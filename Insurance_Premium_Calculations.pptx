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70832"/>
            <a:ext cx="91440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05840"/>
            <a:ext cx="109728" cy="22860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" y="868680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Calculations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premium, maturity, ROI &amp; CAGR computations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Analytics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Calculate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06240" cy="804672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097280"/>
            <a:ext cx="0" cy="530352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149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Amount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premium charged for the policy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206240" cy="804672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2057400"/>
            <a:ext cx="0" cy="530352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9751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Premium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331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premium using payment frequency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206240" cy="804672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036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8680" y="3017520"/>
            <a:ext cx="0" cy="530352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9352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Paid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amount paid till 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206240" cy="804672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404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68680" y="3977640"/>
            <a:ext cx="0" cy="530352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8953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Amount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251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at end of policy term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960120"/>
            <a:ext cx="4206240" cy="804672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601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349240" y="1097280"/>
            <a:ext cx="0" cy="530352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0149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Payment Duration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1371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remaining vs. years paid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1920240"/>
            <a:ext cx="4206240" cy="804672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9202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349240" y="2057400"/>
            <a:ext cx="0" cy="530352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19751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ROI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2331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return per year on investment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880360"/>
            <a:ext cx="4206240" cy="804672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8036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349240" y="3017520"/>
            <a:ext cx="0" cy="530352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29352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Annual Growth Rate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Amount  &amp;  Annual Premium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840480" cy="374904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3840480" cy="41148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AMOUNT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base premium charged
for the insurance policy.
</a:t>
            </a:r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Type
• Sum Assured
• Age &amp; Tenure
• Rider benefits
</a:t>
            </a:r>
            <a:pPr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foundation for all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calculations.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374904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PREMIUM  (switch logic)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128016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508760"/>
            <a:ext cx="100584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508760"/>
            <a:ext cx="173736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0876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15087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0880" y="15087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Premium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984248"/>
            <a:ext cx="1280160" cy="420624"/>
          </a:xfrm>
          <a:prstGeom prst="rect">
            <a:avLst/>
          </a:prstGeom>
          <a:solidFill>
            <a:srgbClr val="1326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984248"/>
            <a:ext cx="1005840" cy="420624"/>
          </a:xfrm>
          <a:prstGeom prst="rect">
            <a:avLst/>
          </a:prstGeom>
          <a:solidFill>
            <a:srgbClr val="1326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984248"/>
            <a:ext cx="1737360" cy="420624"/>
          </a:xfrm>
          <a:prstGeom prst="rect">
            <a:avLst/>
          </a:prstGeom>
          <a:solidFill>
            <a:srgbClr val="1326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9842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19842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1984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× 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59736"/>
            <a:ext cx="1280160" cy="420624"/>
          </a:xfrm>
          <a:prstGeom prst="rect">
            <a:avLst/>
          </a:prstGeom>
          <a:solidFill>
            <a:srgbClr val="0E1E3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459736"/>
            <a:ext cx="1005840" cy="420624"/>
          </a:xfrm>
          <a:prstGeom prst="rect">
            <a:avLst/>
          </a:prstGeom>
          <a:solidFill>
            <a:srgbClr val="0E1E3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2459736"/>
            <a:ext cx="1737360" cy="420624"/>
          </a:xfrm>
          <a:prstGeom prst="rect">
            <a:avLst/>
          </a:prstGeom>
          <a:solidFill>
            <a:srgbClr val="0E1E3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597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24597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4597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× 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935224"/>
            <a:ext cx="1280160" cy="420624"/>
          </a:xfrm>
          <a:prstGeom prst="rect">
            <a:avLst/>
          </a:prstGeom>
          <a:solidFill>
            <a:srgbClr val="1326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935224"/>
            <a:ext cx="1005840" cy="420624"/>
          </a:xfrm>
          <a:prstGeom prst="rect">
            <a:avLst/>
          </a:prstGeom>
          <a:solidFill>
            <a:srgbClr val="1326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2935224"/>
            <a:ext cx="1737360" cy="420624"/>
          </a:xfrm>
          <a:prstGeom prst="rect">
            <a:avLst/>
          </a:prstGeom>
          <a:solidFill>
            <a:srgbClr val="1326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9352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Half-Yearly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293522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29352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×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410712"/>
            <a:ext cx="1280160" cy="420624"/>
          </a:xfrm>
          <a:prstGeom prst="rect">
            <a:avLst/>
          </a:prstGeom>
          <a:solidFill>
            <a:srgbClr val="0E1E3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410712"/>
            <a:ext cx="1005840" cy="420624"/>
          </a:xfrm>
          <a:prstGeom prst="rect">
            <a:avLst/>
          </a:prstGeom>
          <a:solidFill>
            <a:srgbClr val="0E1E3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0880" y="3410712"/>
            <a:ext cx="1737360" cy="420624"/>
          </a:xfrm>
          <a:prstGeom prst="rect">
            <a:avLst/>
          </a:prstGeom>
          <a:solidFill>
            <a:srgbClr val="0E1E3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4107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35040" y="341071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34107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× 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Paid  &amp;  Maturity Amount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37490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PAID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amount the policy holder has paid till the current date.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566160" cy="640080"/>
          </a:xfrm>
          <a:prstGeom prst="rect">
            <a:avLst/>
          </a:prstGeom>
          <a:solidFill>
            <a:srgbClr val="0A1628"/>
          </a:solidFill>
          <a:ln w="19050">
            <a:solidFill>
              <a:srgbClr val="0F71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Paid  =  Annual Premium  ×  Years Paid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
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started: 2020
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year: 2025
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paid: 5 years
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premium: ₹20,000
</a:t>
            </a:r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Paid = ₹20,000 × 5 = ₹1,00,000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297680" cy="374904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64008" cy="37490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AMOUNT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payout received at the end of the policy term.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548640"/>
          </a:xfrm>
          <a:prstGeom prst="rect">
            <a:avLst/>
          </a:prstGeom>
          <a:solidFill>
            <a:srgbClr val="0A1628"/>
          </a:solidFill>
          <a:ln w="10160">
            <a:solidFill>
              <a:srgbClr val="1A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130552"/>
            <a:ext cx="219456" cy="219456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002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Matrix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2585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policy type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624328"/>
            <a:ext cx="3931920" cy="548640"/>
          </a:xfrm>
          <a:prstGeom prst="rect">
            <a:avLst/>
          </a:prstGeom>
          <a:solidFill>
            <a:srgbClr val="0A1628"/>
          </a:solidFill>
          <a:ln w="1016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788920"/>
            <a:ext cx="219456" cy="219456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660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Premium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29169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Frequency-normalised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282696"/>
            <a:ext cx="3931920" cy="548640"/>
          </a:xfrm>
          <a:prstGeom prst="rect">
            <a:avLst/>
          </a:prstGeom>
          <a:solidFill>
            <a:srgbClr val="0A1628"/>
          </a:solidFill>
          <a:ln w="10160">
            <a:solidFill>
              <a:srgbClr val="1A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447288"/>
            <a:ext cx="219456" cy="219456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35753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term in years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941064"/>
            <a:ext cx="3931920" cy="548640"/>
          </a:xfrm>
          <a:prstGeom prst="rect">
            <a:avLst/>
          </a:prstGeom>
          <a:solidFill>
            <a:srgbClr val="0A1628"/>
          </a:solidFill>
          <a:ln w="10160">
            <a:solidFill>
              <a:srgbClr val="1A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4105656"/>
            <a:ext cx="219456" cy="219456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Status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42336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policies only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Payment Duration  &amp;  Amount Payable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TIMELINE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7863840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64208"/>
            <a:ext cx="2743200" cy="10972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9344"/>
            <a:ext cx="201168" cy="201168"/>
          </a:xfrm>
          <a:prstGeom prst="ellipse">
            <a:avLst/>
          </a:prstGeom>
          <a:solidFill>
            <a:srgbClr val="17A8A8"/>
          </a:solidFill>
          <a:ln w="12700">
            <a:solidFill>
              <a:srgbClr val="17A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609344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yrs paid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609344"/>
            <a:ext cx="201168" cy="201168"/>
          </a:xfrm>
          <a:prstGeom prst="ellipse">
            <a:avLst/>
          </a:prstGeom>
          <a:solidFill>
            <a:srgbClr val="A0B4C8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 years paid 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1371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10 years remaining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4023360" cy="251460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68880"/>
            <a:ext cx="64008" cy="25146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23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PAYMENT DURATION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889504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years for which the policy holder is required to pay premiums.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Policy Start: 2020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Duration: 15 years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Years Paid: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Years Remaining: 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4023360" cy="251460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468880"/>
            <a:ext cx="64008" cy="25146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523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AMOUNT PAYABLE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889504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amount still owed until the end of the payment term.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Payable  =  Annual Premium  ×  Remaining Years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  ×  10  =  ₹2,00,000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ROI  —  Return on Investment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 ROI  =  ( (Maturity Value − Total Invested)  ÷  Total Invested )  ×  100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2011680" cy="1280160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011680"/>
            <a:ext cx="2011680" cy="54864"/>
          </a:xfrm>
          <a:prstGeom prst="rect">
            <a:avLst/>
          </a:prstGeom>
          <a:solidFill>
            <a:srgbClr val="A0B4C8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237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31720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68880" y="2011680"/>
            <a:ext cx="2011680" cy="1280160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011680"/>
            <a:ext cx="2011680" cy="54864"/>
          </a:xfrm>
          <a:prstGeom prst="rect">
            <a:avLst/>
          </a:prstGeom>
          <a:solidFill>
            <a:srgbClr val="17A8A8"/>
          </a:solidFill>
          <a:ln w="12700">
            <a:solidFill>
              <a:srgbClr val="17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5237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₹1,33,100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17720" y="2011680"/>
            <a:ext cx="2011680" cy="1280160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011680"/>
            <a:ext cx="201168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5237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₹33,100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2011680"/>
            <a:ext cx="2011680" cy="1280160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2011680"/>
            <a:ext cx="201168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5237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74320" y="34290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10% annual growth  ×  3 years  =  33.1% total return  (compounded each year)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₹1,00,000 × 10% = ₹1,10,000    |    Year 2: ₹1,10,000 × 10% = ₹1,21,000    |    Year 3: ₹1,21,000 × 10% = ₹1,33,100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 —  Compound Annual Growth Rate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0A1628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 =  ( (Final Value ÷ Initial Value) ^ (1 ÷ N)  −  1 )  ×  100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114800" cy="2926080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920240"/>
            <a:ext cx="64008" cy="292608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
</a:t>
            </a:r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Value:  </a:t>
            </a:r>
            <a:pPr indent="0" marL="0">
              <a:buNone/>
            </a:pPr>
            <a:r>
              <a:rPr lang="en-US" sz="1200" b="1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
</a:t>
            </a:r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
</a:t>
            </a:r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 =  (2,00,000 ÷ 1,00,000)^(1/5) − 1
</a:t>
            </a:r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 2^0.2  −  1
</a:t>
            </a:r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≈  14.87%  per year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114800" cy="2926080"/>
          </a:xfrm>
          <a:prstGeom prst="rect">
            <a:avLst/>
          </a:prstGeom>
          <a:solidFill>
            <a:srgbClr val="1326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920240"/>
            <a:ext cx="64008" cy="2926080"/>
          </a:xfrm>
          <a:prstGeom prst="rect">
            <a:avLst/>
          </a:prstGeom>
          <a:solidFill>
            <a:srgbClr val="17A8A8"/>
          </a:solidFill>
          <a:ln w="12700">
            <a:solidFill>
              <a:srgbClr val="17A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vs CAGR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23317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0" y="23317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816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28163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8163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3255264"/>
            <a:ext cx="37490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3009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33009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assumed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89520" y="330098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3739896"/>
            <a:ext cx="37490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7856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aware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37856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89520" y="37856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4224528"/>
            <a:ext cx="37490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2702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42702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returns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89520" y="42702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growth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4709160"/>
            <a:ext cx="374904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Rules  &amp; 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173736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124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Policies 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calculations must consider ONLY policies with status = ACTIVE. Lapsed, surrendered, or pending policies are excluded.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60520" cy="173736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14300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124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Loan Against Policy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include loan data, outstanding loan amounts, or loan-related interest in any premium or maturity computations.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160520" cy="173736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6324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0449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Claim Data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information (settled, rejected, or pending) is out of scope. Focus purely on premium &amp; maturity calculations.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160520" cy="1737360"/>
          </a:xfrm>
          <a:prstGeom prst="rect">
            <a:avLst/>
          </a:prstGeom>
          <a:solidFill>
            <a:srgbClr val="132644"/>
          </a:solidFill>
          <a:ln w="1524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06324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0449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Statement Required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2040" y="36118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switch/case logic to convert premium frequency (Monthly / Quarterly / Half-Yearly / Yearly) into Annual Premium.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786384"/>
          </a:xfrm>
          <a:prstGeom prst="rect">
            <a:avLst/>
          </a:prstGeom>
          <a:solidFill>
            <a:srgbClr val="07101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7863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881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Amount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435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charge for the policy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114800" cy="786384"/>
          </a:xfrm>
          <a:prstGeom prst="rect">
            <a:avLst/>
          </a:prstGeom>
          <a:solidFill>
            <a:srgbClr val="07101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93392"/>
            <a:ext cx="64008" cy="7863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29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Premium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×12 / ×4 / ×2 / ×1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4114800" cy="786384"/>
          </a:xfrm>
          <a:prstGeom prst="rect">
            <a:avLst/>
          </a:prstGeom>
          <a:solidFill>
            <a:srgbClr val="07101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35224"/>
            <a:ext cx="64008" cy="7863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 Paid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319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Premium × Years Paid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4114800" cy="786384"/>
          </a:xfrm>
          <a:prstGeom prst="rect">
            <a:avLst/>
          </a:prstGeom>
          <a:solidFill>
            <a:srgbClr val="07101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77056"/>
            <a:ext cx="64008" cy="7863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Amount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611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× Premium × Tenure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051560"/>
            <a:ext cx="4114800" cy="786384"/>
          </a:xfrm>
          <a:prstGeom prst="rect">
            <a:avLst/>
          </a:prstGeom>
          <a:solidFill>
            <a:srgbClr val="07101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051560"/>
            <a:ext cx="64008" cy="7863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0881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Duration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0" y="1435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years vs. remaining years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993392"/>
            <a:ext cx="4114800" cy="786384"/>
          </a:xfrm>
          <a:prstGeom prst="rect">
            <a:avLst/>
          </a:prstGeom>
          <a:solidFill>
            <a:srgbClr val="07101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993392"/>
            <a:ext cx="64008" cy="7863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029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ROI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2377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(Maturity−Invested) / Invested ) × 100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935224"/>
            <a:ext cx="4114800" cy="786384"/>
          </a:xfrm>
          <a:prstGeom prst="rect">
            <a:avLst/>
          </a:prstGeom>
          <a:solidFill>
            <a:srgbClr val="07101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935224"/>
            <a:ext cx="64008" cy="786384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0" y="3319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(FV/IV)^(1/N) − 1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Policy Premium Calculations</dc:title>
  <dc:subject>PptxGenJS Presentation</dc:subject>
  <dc:creator>PptxGenJS</dc:creator>
  <cp:lastModifiedBy>PptxGenJS</cp:lastModifiedBy>
  <cp:revision>1</cp:revision>
  <dcterms:created xsi:type="dcterms:W3CDTF">2026-03-27T22:27:36Z</dcterms:created>
  <dcterms:modified xsi:type="dcterms:W3CDTF">2026-03-27T22:27:36Z</dcterms:modified>
</cp:coreProperties>
</file>