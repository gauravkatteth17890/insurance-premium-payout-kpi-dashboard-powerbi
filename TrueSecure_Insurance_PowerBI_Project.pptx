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</a:rPr>
              <a:t>POWER BI ANALYTICS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Secure Credit Insurance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Insurance Policy Analysis Dashboard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572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Data: 2015–2025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Tool: Microsoft Power BI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Unified Business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Enabling smarter decisions through Trust · Transparency ·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Secure Credit Insurance provides innovative protection plans for individuals and businesses, offering credit and debit-linked coverage with a focus on Trust, Transparency and Technology — delivering affordable premiums, quick claim settlements, and personalized policies.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94560"/>
            <a:ext cx="26974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credit/debit linked insurance coverage with customized premium plans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21945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2194560"/>
            <a:ext cx="2697480" cy="43891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1945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69748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protection covering credit exposure and business financial risk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21945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194560"/>
            <a:ext cx="269748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1945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Technology-Driven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08776" y="269748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claim processing and real-time policy monitoring via digital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GOALS &amp; PROJECT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60120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33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Business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for stakeholders to track policy performance, claims, maturity forecasts and business unit contributions.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960120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033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Performance Tracking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30759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how different insurance policy types perform across customer segments, states, and demographics.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502920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331720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Efficiency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67919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claim settlement performance and identify inefficiencies in the claim process to improve turnaround 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3172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331720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Top &amp; Low Performers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67919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high-performing policy plans and those with low customer uptake for targeted improvement.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03320"/>
            <a:ext cx="502920" cy="1188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703320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&amp; Eligibility 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5079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loan eligibility milestones (3-year / 5-year mark) and amounts availed against policies.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03320"/>
            <a:ext cx="5029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3703320"/>
            <a:ext cx="475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Report Refresh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05079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stakeholders always see the latest data through automated Power BI report refresh schedules.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Detail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Holder 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at Entry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Status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Exam Required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/ Whole Life / Universal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42062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Name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42062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71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Policy Details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Paid Date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(Years)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Amount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Amount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Surrender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DETAIL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8595360" cy="3657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Field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896112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Customer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261872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Unique identifier for each policy holder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859536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Policy Holder 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645920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Full legal name of the customer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Gender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029968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Used to assess risk profiles for policy pricing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859536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14016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Age at Entry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414016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Age when policy was taken — lower age = lower premium &amp; 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98064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98064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Current 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2798064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Present age of the customer for ongoing assessments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82112"/>
            <a:ext cx="859536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Occupation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3182112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Doctor, Engineer, Teacher etc. — occupation-based risk factor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Smoke 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566160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Yes/No — smokers require mandatory medical examination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950208"/>
            <a:ext cx="859536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950208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Medical Exam Required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3950208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Whether medical test was mandated for policy issuance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34256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34256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Nationality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334256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Citizen classification of the policy holder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718304"/>
            <a:ext cx="859536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18304"/>
            <a:ext cx="2286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State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4718304"/>
            <a:ext cx="6126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Geographic location for regional performance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TYPE &amp; POLICY NAME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Policy Type 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931920" cy="5029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7315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Policy Type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007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 of insurance (Term, Whole Life, Universal)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3931920" cy="5029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57400"/>
            <a:ext cx="7315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75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Policy Type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295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alphanumeric code for system identification and mapping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Policy Types: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37490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Term Policy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93592"/>
            <a:ext cx="37490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9359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Whole Life Policy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9651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Universal Policy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 Name &amp; Sales Agent Table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46304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463040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499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Policy Name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Specific product names like 'Life Growth', 'Advantage Smart', 'Term Protect'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121408"/>
            <a:ext cx="393192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121408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157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Policy Code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alphanumeric ID for each policy product — used for BI mapping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79776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779776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Sales Agent 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ID for each field sales representative or broker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438144"/>
            <a:ext cx="3931920" cy="56692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438144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474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Sales Agent Name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Name of the agent who sold the policy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4096512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4096512"/>
            <a:ext cx="7315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133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6B"/>
                </a:solidFill>
              </a:rPr>
              <a:t>Agent State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8348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Geographic state from which the sales agent operates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POLICY DETAILS — CORE FIELDS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91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32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Policy Number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01952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Unique identifier for each policy issued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420624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53312"/>
            <a:ext cx="914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71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Policy 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01952" y="1371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Active / Lapsed / Closed / Surrendered — tracks policy lifecycle stage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92224"/>
            <a:ext cx="91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105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Start 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1810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Date on which the policy commenced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31136"/>
            <a:ext cx="420624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31136"/>
            <a:ext cx="914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2494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Last Paid 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01952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Most recent date the premium was paid by customer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70048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70048"/>
            <a:ext cx="91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688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Tenure (Years)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01952" y="26883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Total duration of the policy in years — varies by policy type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914400"/>
            <a:ext cx="914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932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Date of Purchase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36792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Date on which the customer formally purchased the policy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353312"/>
            <a:ext cx="420624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353312"/>
            <a:ext cx="91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371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Customer 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6792" y="1371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Foreign key linking policy to the customer detail table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1792224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792224"/>
            <a:ext cx="914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18105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Sum Assured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36792" y="1810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Guaranteed coverage amount the insurance company offers on emergency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231136"/>
            <a:ext cx="4206240" cy="384048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231136"/>
            <a:ext cx="914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2494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Premium Amount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36792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Recurring amount customer must pay monthly/annually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670048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670048"/>
            <a:ext cx="914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2688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Total Premium Payable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36792" y="26883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Total amount to be paid across the full policy tenure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POLICY DETAILS — FINANCIAL &amp; DERIVED FIELDS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Maturity Amount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37160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payout at end of policy tenure. Formula varies by policy type (Term, Whole Life, ULIP).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78892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14400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Surrender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2696" y="137160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amount if policy is discontinued before maturity. Company deducts charges before returning premium paid.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91440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914400"/>
            <a:ext cx="27889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914400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Cash 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7064" y="137160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accumulated value of a ULIP policy. Reflects investment performance of fund over tenure.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0360"/>
            <a:ext cx="278892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80360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🏦  Loan Eligibility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if a policy can be used to avail a loan. Activated after 3 or 5 years of continuous premium payment.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8803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88036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880360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💳  Loan Amount Allowed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82696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loan amount that can be claimed against the policy based on eligibility criteria.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17336" y="288036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880360"/>
            <a:ext cx="278892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2880360"/>
            <a:ext cx="2606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Underwriting Expense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27064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incurred by the insurer to evaluate, issue and maintain the policy. Higher for high-risk candidates.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6B"/>
                </a:solidFill>
              </a:rPr>
              <a:t>📅  Derived Fields:  Purchase Month · Purchase Quarter · Purchase Year · Policy Anniversary Date  — all used for time-intelligence in Power BI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LIFECYCLE &amp; STATUS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78308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Purchased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4832" y="1463040"/>
            <a:ext cx="402336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051560"/>
            <a:ext cx="17830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0515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50792" y="1463040"/>
            <a:ext cx="402336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051560"/>
            <a:ext cx="178308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0515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LAPSED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(Missed payments)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6752" y="1463040"/>
            <a:ext cx="402336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051560"/>
            <a:ext cx="1783080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515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SURRENDERED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(Early exit)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82712" y="1463040"/>
            <a:ext cx="402336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051560"/>
            <a:ext cx="1783080" cy="10058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0515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(Matured)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423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</a:rPr>
              <a:t>Loan Eligibility Timeline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743200"/>
            <a:ext cx="292608" cy="29260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Year 1–2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loan eligibility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74320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Year 3 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Loan eligibility activates (first threshold)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2743200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6B"/>
                </a:solidFill>
              </a:rPr>
              <a:t>Year 5 ✓✓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loan benefit unlocked (higher amount)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55280" y="2743200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Maturity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0664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Policy closes — maturity payout triggered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297680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297680"/>
            <a:ext cx="91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97680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Policies not paid for 2–3 years transition from Active → Lapsed status automatically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4297680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4297680"/>
            <a:ext cx="91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297680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Surrendered policies have charges deducted before refund is given to the holder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681728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681728"/>
            <a:ext cx="91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Medical examination is mandatory for smokers before policy issuance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681728"/>
            <a:ext cx="4206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4681728"/>
            <a:ext cx="91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681728"/>
            <a:ext cx="39776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Underwriting expense is proportional to policy risk level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POWER BI DASHBOARD — KEY METRICS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1600200" cy="10972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Policies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2015–2025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914400"/>
            <a:ext cx="160020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84248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Active Policies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84248" y="1719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Live Status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9896" y="914400"/>
            <a:ext cx="160020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9896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39896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Premium Collected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39896" y="1719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Financial KPI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95544" y="914400"/>
            <a:ext cx="160020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95544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Claims Settled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95544" y="1719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Efficiency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51192" y="914400"/>
            <a:ext cx="1600200" cy="10972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51192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51192" y="1371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Loan Amount Availed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51192" y="1719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Loan KPI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24028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240280"/>
            <a:ext cx="4206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 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2651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 distribution chart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policy heatmap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vs. low uptake plans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24028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240280"/>
            <a:ext cx="4206240" cy="3657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Claims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51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 ratio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vs. resolved claims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efficiency by agent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363016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630168"/>
            <a:ext cx="420624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630168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Financial Overview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041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maturity projections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vs. surrender trends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cost analysis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63016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630168"/>
            <a:ext cx="420624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630168"/>
            <a:ext cx="4023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Insights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4041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occupation segments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Smoker/Non-smoker split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customer map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</a:rPr>
              <a:t>PROJECT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Secure Credit Insurance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ED7AA"/>
                </a:solidFill>
              </a:rPr>
              <a:t>Power BI Dashboard Project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86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Covers full policy lifecycle from 2015 to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core data tables: Customer, Policy Type, Policy Name, Agent, Policy Details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KPIs: Premiums, Claims, Maturity, Loans, Surrenders &amp; Underwriting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refresh for real-time stakeholder reporting in Power BI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For queries: dataanalyticsandbi@gmail.com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Secure Credit Insurance - Power BI Dashboard Project</dc:title>
  <dc:subject>PptxGenJS Presentation</dc:subject>
  <dc:creator>PptxGenJS</dc:creator>
  <cp:lastModifiedBy>PptxGenJS</cp:lastModifiedBy>
  <cp:revision>1</cp:revision>
  <dcterms:created xsi:type="dcterms:W3CDTF">2026-03-27T22:14:03Z</dcterms:created>
  <dcterms:modified xsi:type="dcterms:W3CDTF">2026-03-27T22:14:03Z</dcterms:modified>
</cp:coreProperties>
</file>